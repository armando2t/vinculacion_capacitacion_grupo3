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658133-850E-2DC8-EA9F-C94FA6D904B2}" v="58" dt="2026-07-11T02:05:25.186"/>
    <p1510:client id="{ADF4AEEE-2622-6FB4-D2E8-3AC81307C4B5}" v="19" dt="2026-07-10T23:18:50.028"/>
    <p1510:client id="{C9FA78EB-B636-91CC-E245-F2DDB8574286}" v="5" dt="2026-07-10T21:36:42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 PEÑA JORGE" userId="S::joleonpe@uide.edu.ec::28c1c238-5c41-4b01-aa81-3c9e9885019e" providerId="AD" clId="Web-{C9FA78EB-B636-91CC-E245-F2DDB8574286}"/>
    <pc:docChg chg="modSld">
      <pc:chgData name="LEON PEÑA JORGE" userId="S::joleonpe@uide.edu.ec::28c1c238-5c41-4b01-aa81-3c9e9885019e" providerId="AD" clId="Web-{C9FA78EB-B636-91CC-E245-F2DDB8574286}" dt="2026-07-10T21:36:41.908" v="3" actId="20577"/>
      <pc:docMkLst>
        <pc:docMk/>
      </pc:docMkLst>
      <pc:sldChg chg="modSp">
        <pc:chgData name="LEON PEÑA JORGE" userId="S::joleonpe@uide.edu.ec::28c1c238-5c41-4b01-aa81-3c9e9885019e" providerId="AD" clId="Web-{C9FA78EB-B636-91CC-E245-F2DDB8574286}" dt="2026-07-10T21:36:41.908" v="3" actId="20577"/>
        <pc:sldMkLst>
          <pc:docMk/>
          <pc:sldMk cId="0" sldId="256"/>
        </pc:sldMkLst>
        <pc:spChg chg="mod">
          <ac:chgData name="LEON PEÑA JORGE" userId="S::joleonpe@uide.edu.ec::28c1c238-5c41-4b01-aa81-3c9e9885019e" providerId="AD" clId="Web-{C9FA78EB-B636-91CC-E245-F2DDB8574286}" dt="2026-07-10T21:36:41.908" v="3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  <pc:docChgLst>
    <pc:chgData name="LEON PEÑA JORGE" userId="S::joleonpe@uide.edu.ec::28c1c238-5c41-4b01-aa81-3c9e9885019e" providerId="AD" clId="Web-{DD9E53BA-6504-4C8D-AD13-6D0EB32D5D49}"/>
    <pc:docChg chg="modSld">
      <pc:chgData name="LEON PEÑA JORGE" userId="S::joleonpe@uide.edu.ec::28c1c238-5c41-4b01-aa81-3c9e9885019e" providerId="AD" clId="Web-{DD9E53BA-6504-4C8D-AD13-6D0EB32D5D49}" dt="2026-07-08T19:56:26.091" v="8" actId="1076"/>
      <pc:docMkLst>
        <pc:docMk/>
      </pc:docMkLst>
      <pc:sldChg chg="modSp">
        <pc:chgData name="LEON PEÑA JORGE" userId="S::joleonpe@uide.edu.ec::28c1c238-5c41-4b01-aa81-3c9e9885019e" providerId="AD" clId="Web-{DD9E53BA-6504-4C8D-AD13-6D0EB32D5D49}" dt="2026-07-08T19:49:07.325" v="4" actId="20577"/>
        <pc:sldMkLst>
          <pc:docMk/>
          <pc:sldMk cId="0" sldId="256"/>
        </pc:sldMkLst>
        <pc:spChg chg="mod">
          <ac:chgData name="LEON PEÑA JORGE" userId="S::joleonpe@uide.edu.ec::28c1c238-5c41-4b01-aa81-3c9e9885019e" providerId="AD" clId="Web-{DD9E53BA-6504-4C8D-AD13-6D0EB32D5D49}" dt="2026-07-08T19:49:07.325" v="4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LEON PEÑA JORGE" userId="S::joleonpe@uide.edu.ec::28c1c238-5c41-4b01-aa81-3c9e9885019e" providerId="AD" clId="Web-{DD9E53BA-6504-4C8D-AD13-6D0EB32D5D49}" dt="2026-07-08T19:48:27.119" v="3" actId="20577"/>
          <ac:spMkLst>
            <pc:docMk/>
            <pc:sldMk cId="0" sldId="256"/>
            <ac:spMk id="6" creationId="{00000000-0000-0000-0000-000000000000}"/>
          </ac:spMkLst>
        </pc:spChg>
      </pc:sldChg>
      <pc:sldChg chg="addSp modSp">
        <pc:chgData name="LEON PEÑA JORGE" userId="S::joleonpe@uide.edu.ec::28c1c238-5c41-4b01-aa81-3c9e9885019e" providerId="AD" clId="Web-{DD9E53BA-6504-4C8D-AD13-6D0EB32D5D49}" dt="2026-07-08T19:56:26.091" v="8" actId="1076"/>
        <pc:sldMkLst>
          <pc:docMk/>
          <pc:sldMk cId="0" sldId="261"/>
        </pc:sldMkLst>
        <pc:picChg chg="add mod">
          <ac:chgData name="LEON PEÑA JORGE" userId="S::joleonpe@uide.edu.ec::28c1c238-5c41-4b01-aa81-3c9e9885019e" providerId="AD" clId="Web-{DD9E53BA-6504-4C8D-AD13-6D0EB32D5D49}" dt="2026-07-08T19:56:26.091" v="8" actId="1076"/>
          <ac:picMkLst>
            <pc:docMk/>
            <pc:sldMk cId="0" sldId="261"/>
            <ac:picMk id="19" creationId="{DF57DBFE-A3D3-3403-E456-53DD41A3CB65}"/>
          </ac:picMkLst>
        </pc:picChg>
      </pc:sldChg>
    </pc:docChg>
  </pc:docChgLst>
  <pc:docChgLst>
    <pc:chgData name="Guest User" userId="S::urn:spo:tenantanon#d4f10221-27e3-420c-b5a7-21bbf149f392::" providerId="AD" clId="Web-{F2A3F9F6-B879-FFF6-2E55-4A7C53F287A4}"/>
    <pc:docChg chg="modSld">
      <pc:chgData name="Guest User" userId="S::urn:spo:tenantanon#d4f10221-27e3-420c-b5a7-21bbf149f392::" providerId="AD" clId="Web-{F2A3F9F6-B879-FFF6-2E55-4A7C53F287A4}" dt="2026-07-02T01:39:39.282" v="1" actId="1076"/>
      <pc:docMkLst>
        <pc:docMk/>
      </pc:docMkLst>
      <pc:sldChg chg="modSp">
        <pc:chgData name="Guest User" userId="S::urn:spo:tenantanon#d4f10221-27e3-420c-b5a7-21bbf149f392::" providerId="AD" clId="Web-{F2A3F9F6-B879-FFF6-2E55-4A7C53F287A4}" dt="2026-07-02T01:39:39.282" v="1" actId="1076"/>
        <pc:sldMkLst>
          <pc:docMk/>
          <pc:sldMk cId="0" sldId="262"/>
        </pc:sldMkLst>
        <pc:spChg chg="mod">
          <ac:chgData name="Guest User" userId="S::urn:spo:tenantanon#d4f10221-27e3-420c-b5a7-21bbf149f392::" providerId="AD" clId="Web-{F2A3F9F6-B879-FFF6-2E55-4A7C53F287A4}" dt="2026-07-02T01:39:39.282" v="1" actId="1076"/>
          <ac:spMkLst>
            <pc:docMk/>
            <pc:sldMk cId="0" sldId="262"/>
            <ac:spMk id="9" creationId="{00000000-0000-0000-0000-000000000000}"/>
          </ac:spMkLst>
        </pc:spChg>
      </pc:sldChg>
    </pc:docChg>
  </pc:docChgLst>
  <pc:docChgLst>
    <pc:chgData name="Guest User" userId="S::urn:spo:tenantanon#d4f10221-27e3-420c-b5a7-21bbf149f392::" providerId="AD" clId="Web-{1B658133-850E-2DC8-EA9F-C94FA6D904B2}"/>
    <pc:docChg chg="modSld">
      <pc:chgData name="Guest User" userId="S::urn:spo:tenantanon#d4f10221-27e3-420c-b5a7-21bbf149f392::" providerId="AD" clId="Web-{1B658133-850E-2DC8-EA9F-C94FA6D904B2}" dt="2026-07-11T02:05:25.186" v="56" actId="20577"/>
      <pc:docMkLst>
        <pc:docMk/>
      </pc:docMkLst>
      <pc:sldChg chg="modSp">
        <pc:chgData name="Guest User" userId="S::urn:spo:tenantanon#d4f10221-27e3-420c-b5a7-21bbf149f392::" providerId="AD" clId="Web-{1B658133-850E-2DC8-EA9F-C94FA6D904B2}" dt="2026-07-11T02:05:25.186" v="56" actId="20577"/>
        <pc:sldMkLst>
          <pc:docMk/>
          <pc:sldMk cId="0" sldId="268"/>
        </pc:sldMkLst>
        <pc:spChg chg="mod">
          <ac:chgData name="Guest User" userId="S::urn:spo:tenantanon#d4f10221-27e3-420c-b5a7-21bbf149f392::" providerId="AD" clId="Web-{1B658133-850E-2DC8-EA9F-C94FA6D904B2}" dt="2026-07-11T02:04:31.652" v="32" actId="20577"/>
          <ac:spMkLst>
            <pc:docMk/>
            <pc:sldMk cId="0" sldId="268"/>
            <ac:spMk id="4" creationId="{00000000-0000-0000-0000-000000000000}"/>
          </ac:spMkLst>
        </pc:spChg>
        <pc:spChg chg="mod">
          <ac:chgData name="Guest User" userId="S::urn:spo:tenantanon#d4f10221-27e3-420c-b5a7-21bbf149f392::" providerId="AD" clId="Web-{1B658133-850E-2DC8-EA9F-C94FA6D904B2}" dt="2026-07-11T02:05:25.186" v="56" actId="20577"/>
          <ac:spMkLst>
            <pc:docMk/>
            <pc:sldMk cId="0" sldId="268"/>
            <ac:spMk id="5" creationId="{00000000-0000-0000-0000-000000000000}"/>
          </ac:spMkLst>
        </pc:spChg>
      </pc:sldChg>
    </pc:docChg>
  </pc:docChgLst>
  <pc:docChgLst>
    <pc:chgData name="LEON PEÑA JORGE" userId="S::joleonpe@uide.edu.ec::28c1c238-5c41-4b01-aa81-3c9e9885019e" providerId="AD" clId="Web-{43365A0B-45F5-0085-C9E1-D8C371F6FDC1}"/>
    <pc:docChg chg="modSld">
      <pc:chgData name="LEON PEÑA JORGE" userId="S::joleonpe@uide.edu.ec::28c1c238-5c41-4b01-aa81-3c9e9885019e" providerId="AD" clId="Web-{43365A0B-45F5-0085-C9E1-D8C371F6FDC1}" dt="2026-07-08T20:57:16.707" v="2" actId="1076"/>
      <pc:docMkLst>
        <pc:docMk/>
      </pc:docMkLst>
      <pc:sldChg chg="modSp">
        <pc:chgData name="LEON PEÑA JORGE" userId="S::joleonpe@uide.edu.ec::28c1c238-5c41-4b01-aa81-3c9e9885019e" providerId="AD" clId="Web-{43365A0B-45F5-0085-C9E1-D8C371F6FDC1}" dt="2026-07-08T20:57:16.707" v="2" actId="1076"/>
        <pc:sldMkLst>
          <pc:docMk/>
          <pc:sldMk cId="0" sldId="261"/>
        </pc:sldMkLst>
        <pc:spChg chg="mod">
          <ac:chgData name="LEON PEÑA JORGE" userId="S::joleonpe@uide.edu.ec::28c1c238-5c41-4b01-aa81-3c9e9885019e" providerId="AD" clId="Web-{43365A0B-45F5-0085-C9E1-D8C371F6FDC1}" dt="2026-07-08T20:56:28.065" v="1" actId="1076"/>
          <ac:spMkLst>
            <pc:docMk/>
            <pc:sldMk cId="0" sldId="261"/>
            <ac:spMk id="5" creationId="{00000000-0000-0000-0000-000000000000}"/>
          </ac:spMkLst>
        </pc:spChg>
        <pc:picChg chg="mod">
          <ac:chgData name="LEON PEÑA JORGE" userId="S::joleonpe@uide.edu.ec::28c1c238-5c41-4b01-aa81-3c9e9885019e" providerId="AD" clId="Web-{43365A0B-45F5-0085-C9E1-D8C371F6FDC1}" dt="2026-07-08T20:57:16.707" v="2" actId="1076"/>
          <ac:picMkLst>
            <pc:docMk/>
            <pc:sldMk cId="0" sldId="261"/>
            <ac:picMk id="19" creationId="{DF57DBFE-A3D3-3403-E456-53DD41A3CB65}"/>
          </ac:picMkLst>
        </pc:picChg>
      </pc:sldChg>
    </pc:docChg>
  </pc:docChgLst>
  <pc:docChgLst>
    <pc:chgData name="GAVILANES OÑATE NESTOR FRANCISCO" userId="S::negavilaneson@uide.edu.ec::fa3c4335-f148-4986-bce0-ea9ebc28330f" providerId="AD" clId="Web-{ADF4AEEE-2622-6FB4-D2E8-3AC81307C4B5}"/>
    <pc:docChg chg="modSld">
      <pc:chgData name="GAVILANES OÑATE NESTOR FRANCISCO" userId="S::negavilaneson@uide.edu.ec::fa3c4335-f148-4986-bce0-ea9ebc28330f" providerId="AD" clId="Web-{ADF4AEEE-2622-6FB4-D2E8-3AC81307C4B5}" dt="2026-07-10T23:18:50.028" v="18" actId="20577"/>
      <pc:docMkLst>
        <pc:docMk/>
      </pc:docMkLst>
      <pc:sldChg chg="modSp">
        <pc:chgData name="GAVILANES OÑATE NESTOR FRANCISCO" userId="S::negavilaneson@uide.edu.ec::fa3c4335-f148-4986-bce0-ea9ebc28330f" providerId="AD" clId="Web-{ADF4AEEE-2622-6FB4-D2E8-3AC81307C4B5}" dt="2026-07-10T23:18:50.028" v="18" actId="20577"/>
        <pc:sldMkLst>
          <pc:docMk/>
          <pc:sldMk cId="0" sldId="267"/>
        </pc:sldMkLst>
        <pc:spChg chg="mod">
          <ac:chgData name="GAVILANES OÑATE NESTOR FRANCISCO" userId="S::negavilaneson@uide.edu.ec::fa3c4335-f148-4986-bce0-ea9ebc28330f" providerId="AD" clId="Web-{ADF4AEEE-2622-6FB4-D2E8-3AC81307C4B5}" dt="2026-07-10T23:18:50.028" v="18" actId="20577"/>
          <ac:spMkLst>
            <pc:docMk/>
            <pc:sldMk cId="0" sldId="267"/>
            <ac:spMk id="7" creationId="{00000000-0000-0000-0000-000000000000}"/>
          </ac:spMkLst>
        </pc:spChg>
      </pc:sldChg>
    </pc:docChg>
  </pc:docChgLst>
  <pc:docChgLst>
    <pc:chgData name="Guest User" userId="S::urn:spo:tenantanon#d4f10221-27e3-420c-b5a7-21bbf149f392::" providerId="AD" clId="Web-{3288B242-E144-8234-1022-5CB5BC555586}"/>
    <pc:docChg chg="modSld">
      <pc:chgData name="Guest User" userId="S::urn:spo:tenantanon#d4f10221-27e3-420c-b5a7-21bbf149f392::" providerId="AD" clId="Web-{3288B242-E144-8234-1022-5CB5BC555586}" dt="2026-07-01T17:07:33.301" v="1" actId="1076"/>
      <pc:docMkLst>
        <pc:docMk/>
      </pc:docMkLst>
      <pc:sldChg chg="modSp">
        <pc:chgData name="Guest User" userId="S::urn:spo:tenantanon#d4f10221-27e3-420c-b5a7-21bbf149f392::" providerId="AD" clId="Web-{3288B242-E144-8234-1022-5CB5BC555586}" dt="2026-07-01T17:07:33.301" v="1" actId="1076"/>
        <pc:sldMkLst>
          <pc:docMk/>
          <pc:sldMk cId="0" sldId="262"/>
        </pc:sldMkLst>
        <pc:spChg chg="mod">
          <ac:chgData name="Guest User" userId="S::urn:spo:tenantanon#d4f10221-27e3-420c-b5a7-21bbf149f392::" providerId="AD" clId="Web-{3288B242-E144-8234-1022-5CB5BC555586}" dt="2026-07-01T17:07:33.301" v="1" actId="1076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6A68D7-D0B3-426D-8CE2-4DC99E0CC7B9}" type="datetimeFigureOut">
              <a:t>7/10/2026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4D49D-E5C3-4D01-A6A1-0404095CC67D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6041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3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114800" cy="411480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2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600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>
                <a:solidFill>
                  <a:srgbClr val="02C39A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con </a:t>
            </a:r>
            <a:r>
              <a:rPr lang="es-EC" sz="3000">
                <a:solidFill>
                  <a:srgbClr val="02C39A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estándares</a:t>
            </a:r>
            <a:r>
              <a:rPr lang="en-US" sz="3000">
                <a:solidFill>
                  <a:srgbClr val="02C39A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web </a:t>
            </a:r>
            <a:r>
              <a:rPr lang="en-US" sz="3000" err="1">
                <a:solidFill>
                  <a:srgbClr val="02C39A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modernos</a:t>
            </a:r>
            <a:endParaRPr lang="en-US" sz="3000" err="1">
              <a:latin typeface="Trebuchet M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i="1">
                <a:solidFill>
                  <a:srgbClr val="CFE6E3"/>
                </a:solidFill>
                <a:latin typeface="Calibri"/>
                <a:ea typeface="Calibri"/>
                <a:cs typeface="Calibri"/>
              </a:rPr>
              <a:t>Una </a:t>
            </a:r>
            <a:r>
              <a:rPr lang="es-EC" i="1">
                <a:solidFill>
                  <a:srgbClr val="CFE6E3"/>
                </a:solidFill>
                <a:latin typeface="Calibri"/>
                <a:ea typeface="Calibri"/>
                <a:cs typeface="Calibri"/>
              </a:rPr>
              <a:t>introducción</a:t>
            </a:r>
            <a:r>
              <a:rPr lang="en-US" sz="1800" i="1">
                <a:solidFill>
                  <a:srgbClr val="CFE6E3"/>
                </a:solidFill>
                <a:latin typeface="Calibri"/>
                <a:ea typeface="Calibri"/>
                <a:cs typeface="Calibri"/>
              </a:rPr>
              <a:t> practica para </a:t>
            </a:r>
            <a:r>
              <a:rPr lang="en-US" sz="1800" i="1" err="1">
                <a:solidFill>
                  <a:srgbClr val="CFE6E3"/>
                </a:solidFill>
                <a:latin typeface="Calibri"/>
                <a:ea typeface="Calibri"/>
                <a:cs typeface="Calibri"/>
              </a:rPr>
              <a:t>todos</a:t>
            </a:r>
            <a:r>
              <a:rPr lang="en-US" i="1">
                <a:solidFill>
                  <a:srgbClr val="CFE6E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i="1">
                <a:solidFill>
                  <a:srgbClr val="CFE6E3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s-ES_tradnl" sz="1800" i="1">
                <a:solidFill>
                  <a:srgbClr val="CFE6E3"/>
                </a:solidFill>
                <a:latin typeface="Calibri"/>
                <a:ea typeface="Calibri"/>
                <a:cs typeface="Calibri"/>
              </a:rPr>
              <a:t>desde</a:t>
            </a:r>
            <a:r>
              <a:rPr lang="en-US" sz="1800" i="1">
                <a:solidFill>
                  <a:srgbClr val="CFE6E3"/>
                </a:solidFill>
                <a:latin typeface="Calibri"/>
                <a:ea typeface="Calibri"/>
                <a:cs typeface="Calibri"/>
              </a:rPr>
              <a:t> el </a:t>
            </a:r>
            <a:r>
              <a:rPr lang="en-US" sz="1800" i="1" err="1">
                <a:solidFill>
                  <a:srgbClr val="CFE6E3"/>
                </a:solidFill>
                <a:latin typeface="Calibri"/>
                <a:ea typeface="Calibri"/>
                <a:cs typeface="Calibri"/>
              </a:rPr>
              <a:t>telefono</a:t>
            </a:r>
            <a:r>
              <a:rPr lang="en-US" sz="1800" i="1">
                <a:solidFill>
                  <a:srgbClr val="CFE6E3"/>
                </a:solidFill>
                <a:latin typeface="Calibri"/>
                <a:ea typeface="Calibri"/>
                <a:cs typeface="Calibri"/>
              </a:rPr>
              <a:t> hasta la PC</a:t>
            </a:r>
            <a:endParaRPr lang="en-US" sz="180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FC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Vinculacion con la Sociedad  ·  UIDE 2026  ·  Sesion de 2 horas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 veremos hoy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03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7568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1600200" y="18928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backend en palabras simples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1600200" y="23500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cocina detras de cada app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303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07568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7269480" y="18928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hablan las apps en internet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7269480" y="23500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URL, HTTP y JSON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5303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35844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1600200" y="34015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APIs y el estilo REST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1600200" y="38587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estandar moderno para conectar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6309360" y="3200400"/>
            <a:ext cx="5303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35844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7269480" y="34015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Demostracion en vivo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7269480" y="38587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Pedimos datos reales en pantalla</a:t>
            </a:r>
            <a:endParaRPr lang="en-US" sz="1300"/>
          </a:p>
        </p:txBody>
      </p:sp>
      <p:sp>
        <p:nvSpPr>
          <p:cNvPr id="25" name="Shape 23"/>
          <p:cNvSpPr/>
          <p:nvPr/>
        </p:nvSpPr>
        <p:spPr>
          <a:xfrm>
            <a:off x="640080" y="4709160"/>
            <a:ext cx="5303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" y="509320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093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/>
          </a:p>
        </p:txBody>
      </p:sp>
      <p:sp>
        <p:nvSpPr>
          <p:cNvPr id="28" name="Text 26"/>
          <p:cNvSpPr/>
          <p:nvPr/>
        </p:nvSpPr>
        <p:spPr>
          <a:xfrm>
            <a:off x="1600200" y="49103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por niveles</a:t>
            </a:r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1600200" y="53675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telefono y para PC</a:t>
            </a:r>
            <a:endParaRPr lang="en-US" sz="1300"/>
          </a:p>
        </p:txBody>
      </p:sp>
      <p:sp>
        <p:nvSpPr>
          <p:cNvPr id="30" name="Shape 28"/>
          <p:cNvSpPr/>
          <p:nvPr/>
        </p:nvSpPr>
        <p:spPr>
          <a:xfrm>
            <a:off x="6309360" y="4709160"/>
            <a:ext cx="5303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83680" y="509320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5093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/>
          </a:p>
        </p:txBody>
      </p:sp>
      <p:sp>
        <p:nvSpPr>
          <p:cNvPr id="33" name="Text 31"/>
          <p:cNvSpPr/>
          <p:nvPr/>
        </p:nvSpPr>
        <p:spPr>
          <a:xfrm>
            <a:off x="7269480" y="49103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Buenas practicas y cierre</a:t>
            </a:r>
            <a:endParaRPr lang="en-US" sz="1600"/>
          </a:p>
        </p:txBody>
      </p:sp>
      <p:sp>
        <p:nvSpPr>
          <p:cNvPr id="34" name="Text 32"/>
          <p:cNvSpPr/>
          <p:nvPr/>
        </p:nvSpPr>
        <p:spPr>
          <a:xfrm>
            <a:off x="7269480" y="53675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Seguridad, despliegue y recursos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EMPECEMOS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participar hoy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pueden seguir la sesion, sin importar el dispositivo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349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Desde el TELEFONO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mira la pantalla compartida y escucha</a:t>
            </a:r>
            <a:endParaRPr lang="en-US" sz="15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tus dudas en el chat cuando quieras</a:t>
            </a:r>
            <a:endParaRPr lang="en-US" sz="15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practica usaras el navegador del telefono</a:t>
            </a:r>
            <a:endParaRPr lang="en-US" sz="15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necesitas instalar nada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257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Desde la PC</a:t>
            </a:r>
            <a:endParaRPr lang="en-US" sz="1900"/>
          </a:p>
        </p:txBody>
      </p:sp>
      <p:sp>
        <p:nvSpPr>
          <p:cNvPr id="11" name="Text 9"/>
          <p:cNvSpPr/>
          <p:nvPr/>
        </p:nvSpPr>
        <p:spPr>
          <a:xfrm>
            <a:off x="6537960" y="274320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todo lo anterior, y ademas</a:t>
            </a:r>
            <a:endParaRPr lang="en-US" sz="15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practica podras escribir codigo real</a:t>
            </a:r>
            <a:endParaRPr lang="en-US" sz="15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Crearas un mini servidor con Node.js</a:t>
            </a:r>
            <a:endParaRPr lang="en-US" sz="15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reto opcional: si se complica, vuelve al Nivel 1</a:t>
            </a:r>
            <a:endParaRPr lang="en-US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3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Cuando abres una app y ves tus mensajes,</a:t>
            </a:r>
            <a:endParaRPr lang="en-US" sz="3000"/>
          </a:p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fotos o pedidos...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¿De donde salen esos datos?</a:t>
            </a:r>
            <a:endParaRPr lang="en-US" sz="360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es la pregunta que responde el BACKEND</a:t>
            </a:r>
            <a:endParaRPr 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CONCEPTO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analogia del restaurante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app tiene dos partes que trabajan juntas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349240" cy="4114800"/>
          </a:xfrm>
          <a:prstGeom prst="rect">
            <a:avLst/>
          </a:prstGeom>
          <a:solidFill>
            <a:srgbClr val="F4F7F7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= el comedor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cliente VE y toca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menu, las mesas, la decoracion</a:t>
            </a:r>
            <a:endParaRPr lang="en-US" sz="15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app: botones, pantallas, colores</a:t>
            </a:r>
            <a:endParaRPr lang="en-US" sz="15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mesero toma tu pedido</a:t>
            </a:r>
            <a:endParaRPr lang="en-US" sz="1500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5257800" cy="4114800"/>
          </a:xfrm>
          <a:prstGeom prst="rect">
            <a:avLst/>
          </a:prstGeom>
          <a:solidFill>
            <a:srgbClr val="F4F7F7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= la cocina</a:t>
            </a:r>
            <a:endParaRPr lang="en-US" sz="1900"/>
          </a:p>
        </p:txBody>
      </p:sp>
      <p:sp>
        <p:nvSpPr>
          <p:cNvPr id="12" name="Text 10"/>
          <p:cNvSpPr/>
          <p:nvPr/>
        </p:nvSpPr>
        <p:spPr>
          <a:xfrm>
            <a:off x="6537960" y="2697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ves, pero hace el trabajo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6537960" y="32004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el plato (procesa la peticion)</a:t>
            </a:r>
            <a:endParaRPr lang="en-US" sz="15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los ingredientes (base de datos)</a:t>
            </a:r>
            <a:endParaRPr lang="en-US" sz="15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el plato listo (la respuesta)</a:t>
            </a:r>
            <a:endParaRPr lang="en-US"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DEFINICION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Entonces, que es el backend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837474" y="2193109"/>
            <a:ext cx="10515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parte de una app que vive en un servidor (una computadora siempre encendida) y se encarga de guardar la informacion, hacer los calculos y responder lo que la app necesita.</a:t>
            </a:r>
            <a:endParaRPr lang="en-US" sz="180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3291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3703320"/>
            <a:ext cx="329184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069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Guardar</a:t>
            </a:r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1051560" y="47091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pedidos, fotos, mensajes...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389120" y="3703320"/>
            <a:ext cx="3291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3703320"/>
            <a:ext cx="3291840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4069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Procesar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4617720" y="47091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Calcula, valida y aplica reglas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7955280" y="3703320"/>
            <a:ext cx="3291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0" y="3703320"/>
            <a:ext cx="329184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4069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Responder</a:t>
            </a:r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8183880" y="47091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datos a la app cuando los pide</a:t>
            </a:r>
            <a:endParaRPr lang="en-US" sz="1400"/>
          </a:p>
        </p:txBody>
      </p:sp>
      <p:pic>
        <p:nvPicPr>
          <p:cNvPr id="19" name="Imagen 18" descr="Tipos de Servidores - Redes de Computadores">
            <a:extLst>
              <a:ext uri="{FF2B5EF4-FFF2-40B4-BE49-F238E27FC236}">
                <a16:creationId xmlns:a16="http://schemas.microsoft.com/office/drawing/2014/main" id="{DF57DBFE-A3D3-3403-E456-53DD41A3C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514" y="395514"/>
            <a:ext cx="3207655" cy="17997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FUNCIONA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 y servidor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 viaja un mensaje de ida y vuelta por internet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3108960" cy="2377440"/>
          </a:xfrm>
          <a:prstGeom prst="rect">
            <a:avLst/>
          </a:prstGeom>
          <a:solidFill>
            <a:srgbClr val="F4F7F7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telefono</a:t>
            </a:r>
            <a:endParaRPr lang="en-US" sz="1500"/>
          </a:p>
          <a:p>
            <a:pPr marL="0" indent="0" algn="ctr">
              <a:buNone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navegador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8229600" y="2377440"/>
            <a:ext cx="3108960" cy="2377440"/>
          </a:xfrm>
          <a:prstGeom prst="rect">
            <a:avLst/>
          </a:prstGeom>
          <a:solidFill>
            <a:srgbClr val="F4F7F7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SERVIDOR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8229600" y="31546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</a:t>
            </a:r>
            <a:endParaRPr lang="en-US" sz="1500"/>
          </a:p>
          <a:p>
            <a:pPr marL="0" indent="0" algn="ctr">
              <a:buNone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(siempre encendido)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4114800" y="2880360"/>
            <a:ext cx="3931920" cy="502920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Peticion: 'dame mis mensajes'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4114800" y="3794760"/>
            <a:ext cx="3931920" cy="502920"/>
          </a:xfrm>
          <a:prstGeom prst="leftArrow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4343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Respuesta: aqui estan tus mensajes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ida y vuelta ocurre miles de veces al usar cualquier app. Los estandares web definen como se escriben esos mensajes para que todos se entiendan.</a:t>
            </a:r>
            <a:endParaRPr lang="en-US"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ESTANDAR 1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URL: la direccion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decirle al servidor a donde queremos ir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solidFill>
            <a:srgbClr val="0B2B3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121408"/>
            <a:ext cx="101864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EA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https://api.tienda.com/productos/15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109728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2461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4572000" y="32461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idioma seguro (con candado)</a:t>
            </a:r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822960" y="4160520"/>
            <a:ext cx="109728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1605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api.tienda.com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4572000" y="41605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del servidor (donde vive)</a:t>
            </a:r>
            <a:endParaRPr lang="en-US" sz="1500"/>
          </a:p>
        </p:txBody>
      </p:sp>
      <p:sp>
        <p:nvSpPr>
          <p:cNvPr id="14" name="Shape 12"/>
          <p:cNvSpPr/>
          <p:nvPr/>
        </p:nvSpPr>
        <p:spPr>
          <a:xfrm>
            <a:off x="822960" y="5074920"/>
            <a:ext cx="109728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074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/productos/15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4572000" y="50749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recurso queremos (el producto 15)</a:t>
            </a:r>
            <a:endParaRPr lang="en-US"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ESTANDAR 2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HTTP: el idioma de la web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conjunto de reglas para pedir y recibir cosas en internet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515600" cy="1188720"/>
          </a:xfrm>
          <a:prstGeom prst="rect">
            <a:avLst/>
          </a:prstGeom>
          <a:solidFill>
            <a:srgbClr val="F4F7F7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148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en HTTP como las reglas de cortesia de una conversacion: el cliente PIDE algo de forma ordenada y el servidor RESPONDE de forma ordenada. Ambos siguen el mismo formato.</a:t>
            </a:r>
            <a:endParaRPr lang="en-US" sz="1700"/>
          </a:p>
        </p:txBody>
      </p:sp>
      <p:sp>
        <p:nvSpPr>
          <p:cNvPr id="8" name="Shape 6"/>
          <p:cNvSpPr/>
          <p:nvPr/>
        </p:nvSpPr>
        <p:spPr>
          <a:xfrm>
            <a:off x="822960" y="3474720"/>
            <a:ext cx="51206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703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PETICION lleva</a:t>
            </a:r>
            <a:endParaRPr lang="en-US" sz="1700"/>
          </a:p>
        </p:txBody>
      </p:sp>
      <p:sp>
        <p:nvSpPr>
          <p:cNvPr id="10" name="Text 8"/>
          <p:cNvSpPr/>
          <p:nvPr/>
        </p:nvSpPr>
        <p:spPr>
          <a:xfrm>
            <a:off x="1097280" y="42062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metodo (que quiero hacer)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URL (sobre que)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veces, datos (el cuerpo)</a:t>
            </a:r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6217920" y="3474720"/>
            <a:ext cx="51206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3703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RESPUESTA lleva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6492240" y="42062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codigo de estado (salio bien o mal)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pedidos (normalmente en JSON)</a:t>
            </a:r>
            <a:endParaRPr lang="en-US"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ESTANDAR 3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4 verbos del backend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acciones que cubren casi todo lo que una app necesita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5029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219456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900"/>
          </a:p>
        </p:txBody>
      </p:sp>
      <p:sp>
        <p:nvSpPr>
          <p:cNvPr id="9" name="Text 7"/>
          <p:cNvSpPr/>
          <p:nvPr/>
        </p:nvSpPr>
        <p:spPr>
          <a:xfrm>
            <a:off x="3017520" y="21671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Leer / pedir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301752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Ver tus mensajes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109728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pedir al mesero: leer / pedir algo del menu.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6172200" y="1874520"/>
            <a:ext cx="5029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219456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900"/>
          </a:p>
        </p:txBody>
      </p:sp>
      <p:sp>
        <p:nvSpPr>
          <p:cNvPr id="15" name="Text 13"/>
          <p:cNvSpPr/>
          <p:nvPr/>
        </p:nvSpPr>
        <p:spPr>
          <a:xfrm>
            <a:off x="8366760" y="21671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836676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Publicar una foto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644652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pedir al mesero: crear algo del menu.</a:t>
            </a:r>
            <a:endParaRPr lang="en-US" sz="1250"/>
          </a:p>
        </p:txBody>
      </p:sp>
      <p:sp>
        <p:nvSpPr>
          <p:cNvPr id="18" name="Shape 16"/>
          <p:cNvSpPr/>
          <p:nvPr/>
        </p:nvSpPr>
        <p:spPr>
          <a:xfrm>
            <a:off x="822960" y="3931920"/>
            <a:ext cx="5029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97280" y="425196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2519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900"/>
          </a:p>
        </p:txBody>
      </p:sp>
      <p:sp>
        <p:nvSpPr>
          <p:cNvPr id="21" name="Text 19"/>
          <p:cNvSpPr/>
          <p:nvPr/>
        </p:nvSpPr>
        <p:spPr>
          <a:xfrm>
            <a:off x="3017520" y="42245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Actualizar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3017520" y="4709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Editar tu perfil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1097280" y="5166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pedir al mesero: actualizar algo del menu.</a:t>
            </a:r>
            <a:endParaRPr lang="en-US" sz="1250"/>
          </a:p>
        </p:txBody>
      </p:sp>
      <p:sp>
        <p:nvSpPr>
          <p:cNvPr id="24" name="Shape 22"/>
          <p:cNvSpPr/>
          <p:nvPr/>
        </p:nvSpPr>
        <p:spPr>
          <a:xfrm>
            <a:off x="6172200" y="3931920"/>
            <a:ext cx="5029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25196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C1666B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2519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900"/>
          </a:p>
        </p:txBody>
      </p:sp>
      <p:sp>
        <p:nvSpPr>
          <p:cNvPr id="27" name="Text 25"/>
          <p:cNvSpPr/>
          <p:nvPr/>
        </p:nvSpPr>
        <p:spPr>
          <a:xfrm>
            <a:off x="8366760" y="42245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Borrar</a:t>
            </a:r>
            <a:endParaRPr lang="en-US" sz="1800"/>
          </a:p>
        </p:txBody>
      </p:sp>
      <p:sp>
        <p:nvSpPr>
          <p:cNvPr id="28" name="Text 26"/>
          <p:cNvSpPr/>
          <p:nvPr/>
        </p:nvSpPr>
        <p:spPr>
          <a:xfrm>
            <a:off x="8366760" y="4709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Eliminar un pedido</a:t>
            </a:r>
            <a:endParaRPr lang="en-US" sz="1400"/>
          </a:p>
        </p:txBody>
      </p:sp>
      <p:sp>
        <p:nvSpPr>
          <p:cNvPr id="29" name="Text 27"/>
          <p:cNvSpPr/>
          <p:nvPr/>
        </p:nvSpPr>
        <p:spPr>
          <a:xfrm>
            <a:off x="6446520" y="5166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pedir al mesero: borrar algo del menu.</a:t>
            </a:r>
            <a:endParaRPr lang="en-US" sz="12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ESTANDAR 4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Codigos de estado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numeros que dicen como salio todo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3337560" cy="3291840"/>
          </a:xfrm>
          <a:prstGeom prst="rect">
            <a:avLst/>
          </a:prstGeom>
          <a:solidFill>
            <a:srgbClr val="F4F7F7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5603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2xx</a:t>
            </a:r>
            <a:endParaRPr lang="en-US" sz="480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 bien</a:t>
            </a:r>
            <a:endParaRPr lang="en-US" sz="190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= OK, listo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4434840" y="2194560"/>
            <a:ext cx="3337560" cy="3291840"/>
          </a:xfrm>
          <a:prstGeom prst="rect">
            <a:avLst/>
          </a:prstGeom>
          <a:solidFill>
            <a:srgbClr val="F4F7F7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34840" y="25603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E0A3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4xx</a:t>
            </a:r>
            <a:endParaRPr lang="en-US" sz="4800"/>
          </a:p>
        </p:txBody>
      </p:sp>
      <p:sp>
        <p:nvSpPr>
          <p:cNvPr id="12" name="Text 10"/>
          <p:cNvSpPr/>
          <p:nvPr/>
        </p:nvSpPr>
        <p:spPr>
          <a:xfrm>
            <a:off x="4434840" y="36118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tuyo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4617720" y="42976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= no se encontro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8046720" y="2194560"/>
            <a:ext cx="3337560" cy="3291840"/>
          </a:xfrm>
          <a:prstGeom prst="rect">
            <a:avLst/>
          </a:prstGeom>
          <a:solidFill>
            <a:srgbClr val="F4F7F7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0" y="25603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C166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5xx</a:t>
            </a:r>
            <a:endParaRPr lang="en-US" sz="4800"/>
          </a:p>
        </p:txBody>
      </p:sp>
      <p:sp>
        <p:nvSpPr>
          <p:cNvPr id="16" name="Text 14"/>
          <p:cNvSpPr/>
          <p:nvPr/>
        </p:nvSpPr>
        <p:spPr>
          <a:xfrm>
            <a:off x="8046720" y="36118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del servidor</a:t>
            </a:r>
            <a:endParaRPr lang="en-US" sz="1900"/>
          </a:p>
        </p:txBody>
      </p:sp>
      <p:sp>
        <p:nvSpPr>
          <p:cNvPr id="17" name="Text 15"/>
          <p:cNvSpPr/>
          <p:nvPr/>
        </p:nvSpPr>
        <p:spPr>
          <a:xfrm>
            <a:off x="8229600" y="42976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= algo fallo en la cocina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Truco: el famoso 404 que a veces ves en internet es justo esto, un codigo de estado.</a:t>
            </a:r>
            <a:endParaRPr lang="en-US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ESTANDAR 5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JSON: el formato de los datos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estandar y ordenada de empaquetar informacion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5852160" cy="3566160"/>
          </a:xfrm>
          <a:prstGeom prst="rect">
            <a:avLst/>
          </a:prstGeom>
          <a:solidFill>
            <a:srgbClr val="0B2B3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121408"/>
            <a:ext cx="5522976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EA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AF6F4"/>
                </a:solidFill>
                <a:latin typeface="Consolas"/>
                <a:ea typeface="Consolas" pitchFamily="34" charset="-122"/>
                <a:cs typeface="Consolas" pitchFamily="34" charset="-120"/>
              </a:rPr>
              <a:t>  "</a:t>
            </a:r>
            <a:r>
              <a:rPr lang="en-US" sz="1300" err="1">
                <a:solidFill>
                  <a:srgbClr val="EAF6F4"/>
                </a:solidFill>
                <a:latin typeface="Consolas"/>
                <a:ea typeface="Consolas" pitchFamily="34" charset="-122"/>
                <a:cs typeface="Consolas" pitchFamily="34" charset="-120"/>
              </a:rPr>
              <a:t>nombre</a:t>
            </a:r>
            <a:r>
              <a:rPr lang="en-US" sz="1300">
                <a:solidFill>
                  <a:srgbClr val="EAF6F4"/>
                </a:solidFill>
                <a:latin typeface="Consolas"/>
                <a:ea typeface="Consolas" pitchFamily="34" charset="-122"/>
                <a:cs typeface="Consolas" pitchFamily="34" charset="-120"/>
              </a:rPr>
              <a:t>": "Nestor",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AF6F4"/>
                </a:solidFill>
                <a:latin typeface="Consolas"/>
                <a:ea typeface="Consolas" pitchFamily="34" charset="-122"/>
                <a:cs typeface="Consolas" pitchFamily="34" charset="-120"/>
              </a:rPr>
              <a:t>  "</a:t>
            </a:r>
            <a:r>
              <a:rPr lang="en-US" sz="1300" err="1">
                <a:solidFill>
                  <a:srgbClr val="EAF6F4"/>
                </a:solidFill>
                <a:latin typeface="Consolas"/>
                <a:ea typeface="Consolas" pitchFamily="34" charset="-122"/>
                <a:cs typeface="Consolas" pitchFamily="34" charset="-120"/>
              </a:rPr>
              <a:t>edad</a:t>
            </a:r>
            <a:r>
              <a:rPr lang="en-US" sz="1300">
                <a:solidFill>
                  <a:srgbClr val="EAF6F4"/>
                </a:solidFill>
                <a:latin typeface="Consolas"/>
                <a:ea typeface="Consolas" pitchFamily="34" charset="-122"/>
                <a:cs typeface="Consolas" pitchFamily="34" charset="-120"/>
              </a:rPr>
              <a:t>": 20,</a:t>
            </a:r>
            <a:endParaRPr lang="en-US" sz="1300">
              <a:latin typeface="Consolas"/>
            </a:endParaRPr>
          </a:p>
          <a:p>
            <a:pPr marL="0" indent="0">
              <a:buNone/>
            </a:pPr>
            <a:r>
              <a:rPr lang="en-US" sz="1300">
                <a:solidFill>
                  <a:srgbClr val="EAF6F4"/>
                </a:solidFill>
                <a:latin typeface="Consolas"/>
                <a:ea typeface="Consolas" pitchFamily="34" charset="-122"/>
                <a:cs typeface="Consolas" pitchFamily="34" charset="-120"/>
              </a:rPr>
              <a:t>  "ciudad": "Guayaquil",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AF6F4"/>
                </a:solidFill>
                <a:latin typeface="Consolas"/>
                <a:ea typeface="Consolas" pitchFamily="34" charset="-122"/>
                <a:cs typeface="Consolas" pitchFamily="34" charset="-120"/>
              </a:rPr>
              <a:t>  "</a:t>
            </a:r>
            <a:r>
              <a:rPr lang="en-US" sz="1300" err="1">
                <a:solidFill>
                  <a:srgbClr val="EAF6F4"/>
                </a:solidFill>
                <a:latin typeface="Consolas"/>
                <a:ea typeface="Consolas" pitchFamily="34" charset="-122"/>
                <a:cs typeface="Consolas" pitchFamily="34" charset="-120"/>
              </a:rPr>
              <a:t>activo</a:t>
            </a:r>
            <a:r>
              <a:rPr lang="en-US" sz="1300">
                <a:solidFill>
                  <a:srgbClr val="EAF6F4"/>
                </a:solidFill>
                <a:latin typeface="Consolas"/>
                <a:ea typeface="Consolas" pitchFamily="34" charset="-122"/>
                <a:cs typeface="Consolas" pitchFamily="34" charset="-120"/>
              </a:rPr>
              <a:t>": true,</a:t>
            </a:r>
            <a:endParaRPr lang="en-US" sz="1300">
              <a:latin typeface="Consolas"/>
            </a:endParaRPr>
          </a:p>
          <a:p>
            <a:pPr marL="0" indent="0">
              <a:buNone/>
            </a:pPr>
            <a:r>
              <a:rPr lang="en-US" sz="1300">
                <a:solidFill>
                  <a:srgbClr val="EAF6F4"/>
                </a:solidFill>
                <a:latin typeface="Consolas"/>
                <a:ea typeface="Consolas" pitchFamily="34" charset="-122"/>
                <a:cs typeface="Consolas" pitchFamily="34" charset="-120"/>
              </a:rPr>
              <a:t>  "hobbies": ["leer", "</a:t>
            </a:r>
            <a:r>
              <a:rPr lang="en-US" sz="1300" err="1">
                <a:solidFill>
                  <a:srgbClr val="EAF6F4"/>
                </a:solidFill>
                <a:latin typeface="Consolas"/>
                <a:ea typeface="Consolas" pitchFamily="34" charset="-122"/>
                <a:cs typeface="Consolas" pitchFamily="34" charset="-120"/>
              </a:rPr>
              <a:t>correr</a:t>
            </a:r>
            <a:r>
              <a:rPr lang="en-US" sz="1300">
                <a:solidFill>
                  <a:srgbClr val="EAF6F4"/>
                </a:solidFill>
                <a:latin typeface="Consolas"/>
                <a:ea typeface="Consolas" pitchFamily="34" charset="-122"/>
                <a:cs typeface="Consolas" pitchFamily="34" charset="-120"/>
              </a:rPr>
              <a:t>"]</a:t>
            </a:r>
            <a:endParaRPr lang="en-US" sz="1300">
              <a:latin typeface="Consolas"/>
            </a:endParaRPr>
          </a:p>
          <a:p>
            <a:pPr marL="0" indent="0">
              <a:buNone/>
            </a:pPr>
            <a:r>
              <a:rPr lang="en-US" sz="1300">
                <a:solidFill>
                  <a:srgbClr val="EA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6949440" y="2011680"/>
            <a:ext cx="4389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2376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nos gusta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223760" y="283464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leen los humanos y las maquinas</a:t>
            </a:r>
            <a:endParaRPr lang="en-US" sz="15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pares de etiqueta: valor</a:t>
            </a:r>
            <a:endParaRPr lang="en-US" sz="15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en cualquier lenguaje</a:t>
            </a:r>
            <a:endParaRPr lang="en-US" sz="15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estandar de casi todas las APIs hoy</a:t>
            </a:r>
            <a:endParaRPr lang="en-US"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33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</a:t>
            </a:r>
            <a:endParaRPr lang="en-US" sz="5400"/>
          </a:p>
        </p:txBody>
      </p:sp>
      <p:sp>
        <p:nvSpPr>
          <p:cNvPr id="3" name="Text 1"/>
          <p:cNvSpPr/>
          <p:nvPr/>
        </p:nvSpPr>
        <p:spPr>
          <a:xfrm>
            <a:off x="868680" y="2286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Programming Interface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868680" y="3108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err="1">
                <a:solidFill>
                  <a:srgbClr val="FFFFFF"/>
                </a:solidFill>
                <a:latin typeface="Trebuchet MS"/>
              </a:rPr>
              <a:t>Cómo</a:t>
            </a:r>
            <a:r>
              <a:rPr lang="en-US" sz="2600" b="1">
                <a:solidFill>
                  <a:srgbClr val="FFFFFF"/>
                </a:solidFill>
                <a:latin typeface="Trebuchet MS"/>
              </a:rPr>
              <a:t> se </a:t>
            </a:r>
            <a:r>
              <a:rPr lang="en-US" sz="2600" b="1" err="1">
                <a:solidFill>
                  <a:srgbClr val="FFFFFF"/>
                </a:solidFill>
                <a:latin typeface="Trebuchet MS"/>
              </a:rPr>
              <a:t>comunican</a:t>
            </a:r>
            <a:r>
              <a:rPr lang="en-US" sz="2600" b="1">
                <a:solidFill>
                  <a:srgbClr val="FFFFFF"/>
                </a:solidFill>
                <a:latin typeface="Trebuchet MS"/>
              </a:rPr>
              <a:t> las </a:t>
            </a:r>
            <a:r>
              <a:rPr lang="en-US" sz="2600" b="1" err="1">
                <a:solidFill>
                  <a:srgbClr val="FFFFFF"/>
                </a:solidFill>
                <a:latin typeface="Trebuchet MS"/>
              </a:rPr>
              <a:t>aplicaciones</a:t>
            </a:r>
            <a:endParaRPr lang="en-US" sz="2600" b="1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8680" y="39319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Es un conjunto de </a:t>
            </a:r>
            <a:r>
              <a:rPr lang="en-US" err="1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reglas</a:t>
            </a:r>
            <a:r>
              <a:rPr lang="en-US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permite</a:t>
            </a:r>
            <a:r>
              <a:rPr lang="en-US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 un </a:t>
            </a:r>
            <a:r>
              <a:rPr lang="en-US" err="1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programa</a:t>
            </a:r>
            <a:r>
              <a:rPr lang="en-US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solicite</a:t>
            </a:r>
            <a:r>
              <a:rPr lang="en-US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información</a:t>
            </a:r>
            <a:r>
              <a:rPr lang="en-US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en-US" err="1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ejecute</a:t>
            </a:r>
            <a:r>
              <a:rPr lang="en-US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acciones</a:t>
            </a:r>
            <a:r>
              <a:rPr lang="en-US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otro</a:t>
            </a:r>
            <a:r>
              <a:rPr lang="en-US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programa</a:t>
            </a:r>
            <a:r>
              <a:rPr lang="en-US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, sin </a:t>
            </a:r>
            <a:r>
              <a:rPr lang="en-US" err="1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conocer</a:t>
            </a:r>
            <a:r>
              <a:rPr lang="en-US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cómo</a:t>
            </a:r>
            <a:r>
              <a:rPr lang="en-US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está</a:t>
            </a:r>
            <a:r>
              <a:rPr lang="en-US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construido</a:t>
            </a:r>
            <a:r>
              <a:rPr lang="en-US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internamente</a:t>
            </a:r>
            <a:r>
              <a:rPr lang="en-US">
                <a:solidFill>
                  <a:srgbClr val="DDEDEB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endParaRPr lang="en-US" sz="1800">
              <a:solidFill>
                <a:srgbClr val="DDEDE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ESTANDAR 6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REST: el estilo moderno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mas comun de organizar una API hoy en dia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solidFill>
            <a:srgbClr val="F4F7F7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148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es un conjunto de buenas costumbres: cada cosa (un usuario, un producto) es un recurso con su propia URL, y usamos los verbos HTTP para actuar sobre el.</a:t>
            </a:r>
            <a:endParaRPr lang="en-US" sz="1700"/>
          </a:p>
        </p:txBody>
      </p:sp>
      <p:sp>
        <p:nvSpPr>
          <p:cNvPr id="8" name="Shape 6"/>
          <p:cNvSpPr/>
          <p:nvPr/>
        </p:nvSpPr>
        <p:spPr>
          <a:xfrm>
            <a:off x="822960" y="338328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83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228600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/productos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576072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todos los productos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822960" y="3950208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502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2286000" y="39502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/productos/15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5760720" y="39502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producto 15</a:t>
            </a:r>
            <a:endParaRPr lang="en-US" sz="1500"/>
          </a:p>
        </p:txBody>
      </p:sp>
      <p:sp>
        <p:nvSpPr>
          <p:cNvPr id="16" name="Shape 14"/>
          <p:cNvSpPr/>
          <p:nvPr/>
        </p:nvSpPr>
        <p:spPr>
          <a:xfrm>
            <a:off x="822960" y="4517136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51713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2286000" y="45171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/productos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5760720" y="451713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producto nuevo</a:t>
            </a:r>
            <a:endParaRPr lang="en-US" sz="1500"/>
          </a:p>
        </p:txBody>
      </p:sp>
      <p:sp>
        <p:nvSpPr>
          <p:cNvPr id="20" name="Shape 18"/>
          <p:cNvSpPr/>
          <p:nvPr/>
        </p:nvSpPr>
        <p:spPr>
          <a:xfrm>
            <a:off x="822960" y="5084064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08406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2286000" y="50840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/productos/15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5760720" y="508406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el producto 15</a:t>
            </a:r>
            <a:endParaRPr lang="en-US" sz="1500"/>
          </a:p>
        </p:txBody>
      </p:sp>
      <p:sp>
        <p:nvSpPr>
          <p:cNvPr id="24" name="Shape 22"/>
          <p:cNvSpPr/>
          <p:nvPr/>
        </p:nvSpPr>
        <p:spPr>
          <a:xfrm>
            <a:off x="822960" y="5650992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C1666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6509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2286000" y="56509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/productos/15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5760720" y="56509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 el producto 15</a:t>
            </a:r>
            <a:endParaRPr lang="en-US"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Estandares web modernos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piezas que viste, juntas, forman un backend moderno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33375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11680"/>
            <a:ext cx="333756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</a:t>
            </a:r>
            <a:endParaRPr lang="en-US" sz="1900"/>
          </a:p>
        </p:txBody>
      </p:sp>
      <p:sp>
        <p:nvSpPr>
          <p:cNvPr id="9" name="Text 7"/>
          <p:cNvSpPr/>
          <p:nvPr/>
        </p:nvSpPr>
        <p:spPr>
          <a:xfrm>
            <a:off x="1051560" y="2834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Comunicacion segura y cifrada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4434840" y="2011680"/>
            <a:ext cx="33375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2011680"/>
            <a:ext cx="3337560" cy="91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4663440" y="2834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organizada por recursos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3375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2011680"/>
            <a:ext cx="333756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</a:t>
            </a:r>
            <a:endParaRPr lang="en-US" sz="1900"/>
          </a:p>
        </p:txBody>
      </p:sp>
      <p:sp>
        <p:nvSpPr>
          <p:cNvPr id="17" name="Text 15"/>
          <p:cNvSpPr/>
          <p:nvPr/>
        </p:nvSpPr>
        <p:spPr>
          <a:xfrm>
            <a:off x="8275320" y="2834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formato universal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822960" y="3886200"/>
            <a:ext cx="33375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3886200"/>
            <a:ext cx="333756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4160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Codigos</a:t>
            </a:r>
            <a:endParaRPr lang="en-US" sz="1900"/>
          </a:p>
        </p:txBody>
      </p:sp>
      <p:sp>
        <p:nvSpPr>
          <p:cNvPr id="21" name="Text 19"/>
          <p:cNvSpPr/>
          <p:nvPr/>
        </p:nvSpPr>
        <p:spPr>
          <a:xfrm>
            <a:off x="1051560" y="4709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claras (200, 404...)</a:t>
            </a:r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4434840" y="3886200"/>
            <a:ext cx="33375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3886200"/>
            <a:ext cx="3337560" cy="91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4160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Autenticacion</a:t>
            </a:r>
            <a:endParaRPr lang="en-US" sz="1900"/>
          </a:p>
        </p:txBody>
      </p:sp>
      <p:sp>
        <p:nvSpPr>
          <p:cNvPr id="25" name="Text 23"/>
          <p:cNvSpPr/>
          <p:nvPr/>
        </p:nvSpPr>
        <p:spPr>
          <a:xfrm>
            <a:off x="4663440" y="4709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quien eres (tokens)</a:t>
            </a:r>
            <a:endParaRPr lang="en-US" sz="1400"/>
          </a:p>
        </p:txBody>
      </p:sp>
      <p:sp>
        <p:nvSpPr>
          <p:cNvPr id="26" name="Shape 24"/>
          <p:cNvSpPr/>
          <p:nvPr/>
        </p:nvSpPr>
        <p:spPr>
          <a:xfrm>
            <a:off x="8046720" y="3886200"/>
            <a:ext cx="33375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0" y="3886200"/>
            <a:ext cx="333756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4160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Documentacion</a:t>
            </a:r>
            <a:endParaRPr lang="en-US" sz="1900"/>
          </a:p>
        </p:txBody>
      </p:sp>
      <p:sp>
        <p:nvSpPr>
          <p:cNvPr id="29" name="Text 27"/>
          <p:cNvSpPr/>
          <p:nvPr/>
        </p:nvSpPr>
        <p:spPr>
          <a:xfrm>
            <a:off x="8275320" y="4709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como usar la API</a:t>
            </a:r>
            <a:endParaRPr lang="en-US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33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389120"/>
            <a:ext cx="3200400" cy="32004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DEMOSTRACION EN VIVO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Pidamos datos reales</a:t>
            </a:r>
            <a:endParaRPr lang="en-US" sz="3800"/>
          </a:p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instalar nada</a:t>
            </a:r>
            <a:endParaRPr lang="en-US" sz="3800"/>
          </a:p>
        </p:txBody>
      </p:sp>
      <p:sp>
        <p:nvSpPr>
          <p:cNvPr id="5" name="Text 3"/>
          <p:cNvSpPr/>
          <p:nvPr/>
        </p:nvSpPr>
        <p:spPr>
          <a:xfrm>
            <a:off x="868680" y="393192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Abrimos en el navegador:  jsonplaceholder.typicode.com/users/1</a:t>
            </a:r>
            <a:endParaRPr lang="en-US" sz="180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Vemos la respuesta en JSON: un usuario completo</a:t>
            </a:r>
            <a:endParaRPr lang="en-US" sz="180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Cambiamos el numero y obtenemos otro usuario</a:t>
            </a:r>
            <a:endParaRPr lang="en-US" sz="180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es una peticion GET a una API REST que responde JSON</a:t>
            </a:r>
            <a:endParaRPr lang="en-US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- Nivel 1 (para todos)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desde el telefono o la PC, solo con el navegador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515600" cy="3840480"/>
          </a:xfrm>
          <a:prstGeom prst="rect">
            <a:avLst/>
          </a:prstGeom>
          <a:solidFill>
            <a:srgbClr val="F4F7F7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331720"/>
            <a:ext cx="9875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7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Abre tu navegador (Chrome, Safari, el que tengas)</a:t>
            </a:r>
            <a:endParaRPr lang="en-US" sz="1700"/>
          </a:p>
          <a:p>
            <a:pPr marL="0" indent="0">
              <a:spcAft>
                <a:spcPts val="1200"/>
              </a:spcAft>
              <a:buNone/>
            </a:pPr>
            <a:r>
              <a:rPr lang="en-US" sz="17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Escribe esta direccion y entra:</a:t>
            </a:r>
            <a:endParaRPr lang="en-US" sz="1700"/>
          </a:p>
          <a:p>
            <a:pPr marL="0" indent="0">
              <a:spcAft>
                <a:spcPts val="1200"/>
              </a:spcAft>
              <a:buNone/>
            </a:pPr>
            <a:r>
              <a:rPr lang="en-US" sz="1700" b="1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jsonplaceholder.typicode.com/posts/1</a:t>
            </a:r>
            <a:endParaRPr lang="en-US" sz="1700"/>
          </a:p>
          <a:p>
            <a:pPr marL="0" indent="0">
              <a:spcAft>
                <a:spcPts val="1200"/>
              </a:spcAft>
              <a:buNone/>
            </a:pPr>
            <a:r>
              <a:rPr lang="en-US" sz="17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Observa la respuesta en JSON: tiene un titulo y un texto</a:t>
            </a:r>
            <a:endParaRPr lang="en-US" sz="1700"/>
          </a:p>
          <a:p>
            <a:pPr marL="0" indent="0">
              <a:spcAft>
                <a:spcPts val="1200"/>
              </a:spcAft>
              <a:buNone/>
            </a:pPr>
            <a:r>
              <a:rPr lang="en-US" sz="17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Cambia el 1 por otro numero (ej. /posts/5) y vuelve a entrar</a:t>
            </a:r>
            <a:endParaRPr lang="en-US" sz="1700"/>
          </a:p>
          <a:p>
            <a:pPr marL="0" indent="0">
              <a:spcAft>
                <a:spcPts val="1200"/>
              </a:spcAft>
              <a:buNone/>
            </a:pPr>
            <a:r>
              <a:rPr lang="en-US" sz="170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Prueba ahora:  /users  y mira la lista completa</a:t>
            </a:r>
            <a:endParaRPr lang="en-US" sz="1700"/>
          </a:p>
          <a:p>
            <a:pPr marL="0" indent="0">
              <a:spcAft>
                <a:spcPts val="1200"/>
              </a:spcAft>
              <a:buNone/>
            </a:pPr>
            <a:r>
              <a:rPr lang="en-US" sz="17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/>
          </a:p>
          <a:p>
            <a:pPr marL="0" indent="0">
              <a:spcAft>
                <a:spcPts val="1200"/>
              </a:spcAft>
              <a:buNone/>
            </a:pPr>
            <a:r>
              <a:rPr lang="en-US" sz="1700" b="1" i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para el grupo: que metodo HTTP usaste sin darte cuenta?</a:t>
            </a:r>
            <a:endParaRPr lang="en-US" sz="1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RETO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- Nivel 2 (opcional, en PC)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tu propio mini backend con Node.js + Express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Requisitos: tener Node.js instalado. En la terminal: npm init -y  y  npm install express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6949440" cy="3566160"/>
          </a:xfrm>
          <a:prstGeom prst="rect">
            <a:avLst/>
          </a:prstGeom>
          <a:solidFill>
            <a:srgbClr val="0B2B3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258568"/>
            <a:ext cx="6620256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7FC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archivo: app.js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A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express = require("express");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A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app = express();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7FC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cuando alguien pida GET /saludo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A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app.get("/saludo", (req, res) =&gt; {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A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res.json({ mensaje: "Hola backend!" });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A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A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app.listen(3000, () =&gt;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A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console.log("Servidor en puerto 3000"));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7955280" y="2148840"/>
            <a:ext cx="33832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8388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Pasos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8183880" y="288036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el archivo</a:t>
            </a:r>
            <a:endParaRPr lang="en-US" sz="135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Ejecuta: node app.js</a:t>
            </a:r>
            <a:endParaRPr lang="en-US" sz="135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navegador en localhost:3000/saludo</a:t>
            </a:r>
            <a:endParaRPr lang="en-US" sz="135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Veras tu propio JSON. Felicidades: hiciste un backend!</a:t>
            </a:r>
            <a:endParaRPr lang="en-US" sz="13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CALIDAD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Buenas practicas y seguridad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minimo para que un backend sea confiable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5029200" cy="1188720"/>
          </a:xfrm>
          <a:prstGeom prst="rect">
            <a:avLst/>
          </a:prstGeom>
          <a:solidFill>
            <a:srgbClr val="F4F7F7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22199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1737360" y="20391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 los datos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1737360" y="244144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confies en lo que llega; revisalo siempre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6172200" y="1874520"/>
            <a:ext cx="5029200" cy="1188720"/>
          </a:xfrm>
          <a:prstGeom prst="rect">
            <a:avLst/>
          </a:prstGeom>
          <a:solidFill>
            <a:srgbClr val="F4F7F7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222199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7086600" y="20391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 HTTPS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7086600" y="244144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la comunicacion (el candado del navegador)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822960" y="3246120"/>
            <a:ext cx="5029200" cy="1188720"/>
          </a:xfrm>
          <a:prstGeom prst="rect">
            <a:avLst/>
          </a:prstGeom>
          <a:solidFill>
            <a:srgbClr val="F4F7F7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51560" y="359359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/>
          </a:p>
        </p:txBody>
      </p:sp>
      <p:sp>
        <p:nvSpPr>
          <p:cNvPr id="19" name="Text 17"/>
          <p:cNvSpPr/>
          <p:nvPr/>
        </p:nvSpPr>
        <p:spPr>
          <a:xfrm>
            <a:off x="1737360" y="34107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expongas secretos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1737360" y="381304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Contrasenas y claves nunca van en el codigo visible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6172200" y="3246120"/>
            <a:ext cx="5029200" cy="1188720"/>
          </a:xfrm>
          <a:prstGeom prst="rect">
            <a:avLst/>
          </a:prstGeom>
          <a:solidFill>
            <a:srgbClr val="F4F7F7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359359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7086600" y="34107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Devuelve codigos claros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7086600" y="381304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 404, 500... ayudan a entender que paso</a:t>
            </a:r>
            <a:endParaRPr lang="en-US" sz="1300"/>
          </a:p>
        </p:txBody>
      </p:sp>
      <p:sp>
        <p:nvSpPr>
          <p:cNvPr id="26" name="Shape 24"/>
          <p:cNvSpPr/>
          <p:nvPr/>
        </p:nvSpPr>
        <p:spPr>
          <a:xfrm>
            <a:off x="822960" y="4617720"/>
            <a:ext cx="5029200" cy="1188720"/>
          </a:xfrm>
          <a:prstGeom prst="rect">
            <a:avLst/>
          </a:prstGeom>
          <a:solidFill>
            <a:srgbClr val="F4F7F7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51560" y="496519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4965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/>
          </a:p>
        </p:txBody>
      </p:sp>
      <p:sp>
        <p:nvSpPr>
          <p:cNvPr id="29" name="Text 27"/>
          <p:cNvSpPr/>
          <p:nvPr/>
        </p:nvSpPr>
        <p:spPr>
          <a:xfrm>
            <a:off x="1737360" y="47823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Controla el acceso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1737360" y="518464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para saber quien puede hacer que</a:t>
            </a:r>
            <a:endParaRPr lang="en-US" sz="1300"/>
          </a:p>
        </p:txBody>
      </p:sp>
      <p:sp>
        <p:nvSpPr>
          <p:cNvPr id="31" name="Shape 29"/>
          <p:cNvSpPr/>
          <p:nvPr/>
        </p:nvSpPr>
        <p:spPr>
          <a:xfrm>
            <a:off x="6172200" y="4617720"/>
            <a:ext cx="5029200" cy="1188720"/>
          </a:xfrm>
          <a:prstGeom prst="rect">
            <a:avLst/>
          </a:prstGeom>
          <a:solidFill>
            <a:srgbClr val="F4F7F7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0" y="496519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965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/>
          </a:p>
        </p:txBody>
      </p:sp>
      <p:sp>
        <p:nvSpPr>
          <p:cNvPr id="34" name="Text 32"/>
          <p:cNvSpPr/>
          <p:nvPr/>
        </p:nvSpPr>
        <p:spPr>
          <a:xfrm>
            <a:off x="7086600" y="47823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 tu API</a:t>
            </a:r>
            <a:endParaRPr lang="en-US" sz="1600"/>
          </a:p>
        </p:txBody>
      </p:sp>
      <p:sp>
        <p:nvSpPr>
          <p:cNvPr id="35" name="Text 33"/>
          <p:cNvSpPr/>
          <p:nvPr/>
        </p:nvSpPr>
        <p:spPr>
          <a:xfrm>
            <a:off x="7086600" y="518464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como usarla para quien la consuma</a:t>
            </a:r>
            <a:endParaRPr lang="en-US" sz="1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LA VIDA REAL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se publica un backend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'localhost' de tu PC a internet, para que todos lo usen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3337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48840" y="25146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1005840" y="3246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tu PC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1097280" y="379476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pruebas en localhost, solo tu lo ves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069080" y="3520440"/>
            <a:ext cx="411480" cy="45720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2194560"/>
            <a:ext cx="3337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60720" y="25146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4617720" y="3246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la nube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4709160" y="379476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subes a un servicio (Render, Railway, AWS...)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7680960" y="3520440"/>
            <a:ext cx="411480" cy="45720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0" y="2194560"/>
            <a:ext cx="3337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72600" y="25146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937260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8229600" y="3246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 un dominio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8321040" y="379476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una URL publica que cualquiera puede llamar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existen servicios gratuitos para empezar: subes tu codigo y en minutos esta en linea.</a:t>
            </a:r>
            <a:endParaRPr lang="en-US" sz="1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SEGUIR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Recursos para seguir aprendiendo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y en espanol o muy visuales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5029200" cy="1188720"/>
          </a:xfrm>
          <a:prstGeom prst="rect">
            <a:avLst/>
          </a:prstGeom>
          <a:solidFill>
            <a:srgbClr val="F4F7F7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74520"/>
            <a:ext cx="109728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MDN Web Docs</a:t>
            </a:r>
            <a:endParaRPr lang="en-US" sz="170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enciclopedia de la web (HTTP, JSON...)</a:t>
            </a:r>
            <a:endParaRPr lang="en-US" sz="135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029200" cy="1188720"/>
          </a:xfrm>
          <a:prstGeom prst="rect">
            <a:avLst/>
          </a:prstGeom>
          <a:solidFill>
            <a:srgbClr val="F4F7F7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874520"/>
            <a:ext cx="109728" cy="1188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freeCodeCamp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6492240" y="24963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 gratis de backend paso a paso</a:t>
            </a:r>
            <a:endParaRPr lang="en-US" sz="1350"/>
          </a:p>
        </p:txBody>
      </p:sp>
      <p:sp>
        <p:nvSpPr>
          <p:cNvPr id="14" name="Shape 12"/>
          <p:cNvSpPr/>
          <p:nvPr/>
        </p:nvSpPr>
        <p:spPr>
          <a:xfrm>
            <a:off x="822960" y="3246120"/>
            <a:ext cx="5029200" cy="1188720"/>
          </a:xfrm>
          <a:prstGeom prst="rect">
            <a:avLst/>
          </a:prstGeom>
          <a:solidFill>
            <a:srgbClr val="F4F7F7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246120"/>
            <a:ext cx="109728" cy="1188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3429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+ Express</a:t>
            </a:r>
            <a:endParaRPr lang="en-US" sz="1700"/>
          </a:p>
        </p:txBody>
      </p:sp>
      <p:sp>
        <p:nvSpPr>
          <p:cNvPr id="17" name="Text 15"/>
          <p:cNvSpPr/>
          <p:nvPr/>
        </p:nvSpPr>
        <p:spPr>
          <a:xfrm>
            <a:off x="1143000" y="38679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documentacion oficial para practicar</a:t>
            </a:r>
            <a:endParaRPr lang="en-US" sz="1350"/>
          </a:p>
        </p:txBody>
      </p:sp>
      <p:sp>
        <p:nvSpPr>
          <p:cNvPr id="18" name="Shape 16"/>
          <p:cNvSpPr/>
          <p:nvPr/>
        </p:nvSpPr>
        <p:spPr>
          <a:xfrm>
            <a:off x="6172200" y="3246120"/>
            <a:ext cx="5029200" cy="1188720"/>
          </a:xfrm>
          <a:prstGeom prst="rect">
            <a:avLst/>
          </a:prstGeom>
          <a:solidFill>
            <a:srgbClr val="F4F7F7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3246120"/>
            <a:ext cx="109728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429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jsonplaceholder</a:t>
            </a:r>
            <a:endParaRPr lang="en-US" sz="1700"/>
          </a:p>
        </p:txBody>
      </p:sp>
      <p:sp>
        <p:nvSpPr>
          <p:cNvPr id="21" name="Text 19"/>
          <p:cNvSpPr/>
          <p:nvPr/>
        </p:nvSpPr>
        <p:spPr>
          <a:xfrm>
            <a:off x="6492240" y="38679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gratuita para experimentar sin instalar</a:t>
            </a:r>
            <a:endParaRPr lang="en-US" sz="1350"/>
          </a:p>
        </p:txBody>
      </p:sp>
      <p:sp>
        <p:nvSpPr>
          <p:cNvPr id="22" name="Shape 20"/>
          <p:cNvSpPr/>
          <p:nvPr/>
        </p:nvSpPr>
        <p:spPr>
          <a:xfrm>
            <a:off x="822960" y="4617720"/>
            <a:ext cx="5029200" cy="1188720"/>
          </a:xfrm>
          <a:prstGeom prst="rect">
            <a:avLst/>
          </a:prstGeom>
          <a:solidFill>
            <a:srgbClr val="F4F7F7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4617720"/>
            <a:ext cx="109728" cy="1188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4800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Postman</a:t>
            </a:r>
            <a:endParaRPr lang="en-US" sz="1700"/>
          </a:p>
        </p:txBody>
      </p:sp>
      <p:sp>
        <p:nvSpPr>
          <p:cNvPr id="25" name="Text 23"/>
          <p:cNvSpPr/>
          <p:nvPr/>
        </p:nvSpPr>
        <p:spPr>
          <a:xfrm>
            <a:off x="1143000" y="52395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para probar APIs facilmente</a:t>
            </a:r>
            <a:endParaRPr lang="en-US" sz="1350"/>
          </a:p>
        </p:txBody>
      </p:sp>
      <p:sp>
        <p:nvSpPr>
          <p:cNvPr id="26" name="Shape 24"/>
          <p:cNvSpPr/>
          <p:nvPr/>
        </p:nvSpPr>
        <p:spPr>
          <a:xfrm>
            <a:off x="6172200" y="4617720"/>
            <a:ext cx="5029200" cy="1188720"/>
          </a:xfrm>
          <a:prstGeom prst="rect">
            <a:avLst/>
          </a:prstGeom>
          <a:solidFill>
            <a:srgbClr val="F4F7F7"/>
          </a:solidFill>
          <a:ln w="12700">
            <a:solidFill>
              <a:srgbClr val="DDE6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4617720"/>
            <a:ext cx="109728" cy="1188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4800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3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YouTube</a:t>
            </a:r>
            <a:endParaRPr lang="en-US" sz="1700"/>
          </a:p>
        </p:txBody>
      </p:sp>
      <p:sp>
        <p:nvSpPr>
          <p:cNvPr id="29" name="Text 27"/>
          <p:cNvSpPr/>
          <p:nvPr/>
        </p:nvSpPr>
        <p:spPr>
          <a:xfrm>
            <a:off x="6492240" y="52395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'que es una API REST' para repasar</a:t>
            </a:r>
            <a:endParaRPr lang="en-US" sz="13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33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Gracias!</a:t>
            </a:r>
            <a:endParaRPr lang="en-US" sz="5200"/>
          </a:p>
        </p:txBody>
      </p:sp>
      <p:sp>
        <p:nvSpPr>
          <p:cNvPr id="5" name="Text 3"/>
          <p:cNvSpPr/>
          <p:nvPr/>
        </p:nvSpPr>
        <p:spPr>
          <a:xfrm>
            <a:off x="86868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Recuerda las 3 ideas clave: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868680" y="374904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es la cocina: guarda, procesa y responde</a:t>
            </a:r>
            <a:endParaRPr lang="en-US" sz="18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y servidor hablan por HTTP usando JSON</a:t>
            </a:r>
            <a:endParaRPr lang="en-US" sz="18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API REST es la ventanilla ordenada para pedir datos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868680" y="6126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FC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Vinculacion con la Sociedad  ·  UIDE 2026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22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 con estandares web modernos</dc:title>
  <dc:subject>PptxGenJS Presentation</dc:subject>
  <dc:creator>Vinculacion UIDE 2026</dc:creator>
  <cp:revision>1</cp:revision>
  <dcterms:created xsi:type="dcterms:W3CDTF">2026-06-19T02:51:33Z</dcterms:created>
  <dcterms:modified xsi:type="dcterms:W3CDTF">2026-07-11T02:05:44Z</dcterms:modified>
</cp:coreProperties>
</file>